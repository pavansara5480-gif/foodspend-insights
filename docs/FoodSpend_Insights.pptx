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e538ac-89c0-7750-14cb-50bd4d1a8c9f}">
          <p14:sldIdLst>
            <p14:sldId id="256"/>
            <p14:sldId id="257"/>
          </p14:sldIdLst>
        </p14:section>
        <p14:section name="Data" id="{e11680df-85ff-d132-65af-f1b85c6ce0b1}">
          <p14:sldIdLst>
            <p14:sldId id="258"/>
            <p14:sldId id="259"/>
            <p14:sldId id="260"/>
          </p14:sldIdLst>
        </p14:section>
        <p14:section name="Analysis" id="{a806469d-aaf5-64e9-1a02-9991c216cd56}">
          <p14:sldIdLst>
            <p14:sldId id="261"/>
            <p14:sldId id="262"/>
            <p14:sldId id="263"/>
            <p14:sldId id="264"/>
          </p14:sldIdLst>
        </p14:section>
        <p14:section name="Recommendation" id="{775462a6-54f2-3ae5-72a7-17ad453ddbbc}">
          <p14:sldIdLst>
            <p14:sldId id="265"/>
            <p14:sldId id="266"/>
            <p14:sldId id="267"/>
            <p14:sldId id="268"/>
          </p14:sldIdLst>
        </p14:section>
        <p14:section name="Dashboard" id="{b396932b-a1b6-2589-b9cd-cd52cf6d7620}">
          <p14:sldIdLst>
            <p14:sldId id="269"/>
          </p14:sldIdLst>
        </p14:section>
        <p14:section name="Conclusions" id="{162c667c-e8f8-6fee-cd22-57b062a9ef34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2"/>
                </a:solidFill>
                <a:latin typeface="+mn-lt"/>
              </a:rPr>
              <a:t>Monthly spending by transaction type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orders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2025-10</c:v>
                  </c:pt>
                  <c:pt idx="1">
                    <c:v>2025-11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  <c:pt idx="7">
                    <c:v>2026-05</c:v>
                  </c:pt>
                  <c:pt idx="8">
                    <c:v>2026-06</c:v>
                  </c:pt>
                  <c:pt idx="9">
                    <c:v>2026-07</c:v>
                  </c:pt>
                  <c:pt idx="10">
                    <c:v>2026-08</c:v>
                  </c:pt>
                  <c:pt idx="11">
                    <c:v>2026-09</c:v>
                  </c:pt>
                  <c:pt idx="12">
                    <c:v>2026-10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1489</c:v>
                </c:pt>
                <c:pt idx="1">
                  <c:v>8185</c:v>
                </c:pt>
                <c:pt idx="2">
                  <c:v>6164</c:v>
                </c:pt>
                <c:pt idx="3">
                  <c:v>8647</c:v>
                </c:pt>
                <c:pt idx="4">
                  <c:v>9688</c:v>
                </c:pt>
                <c:pt idx="5">
                  <c:v>3923</c:v>
                </c:pt>
                <c:pt idx="6">
                  <c:v>9719</c:v>
                </c:pt>
                <c:pt idx="7">
                  <c:v>11775</c:v>
                </c:pt>
                <c:pt idx="8">
                  <c:v>9652</c:v>
                </c:pt>
                <c:pt idx="9">
                  <c:v>9436</c:v>
                </c:pt>
                <c:pt idx="10">
                  <c:v>9663</c:v>
                </c:pt>
                <c:pt idx="11">
                  <c:v>9004</c:v>
                </c:pt>
                <c:pt idx="12">
                  <c:v>8930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Cafe purchases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2025-10</c:v>
                  </c:pt>
                  <c:pt idx="1">
                    <c:v>2025-11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  <c:pt idx="7">
                    <c:v>2026-05</c:v>
                  </c:pt>
                  <c:pt idx="8">
                    <c:v>2026-06</c:v>
                  </c:pt>
                  <c:pt idx="9">
                    <c:v>2026-07</c:v>
                  </c:pt>
                  <c:pt idx="10">
                    <c:v>2026-08</c:v>
                  </c:pt>
                  <c:pt idx="11">
                    <c:v>2026-09</c:v>
                  </c:pt>
                  <c:pt idx="12">
                    <c:v>2026-10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52</c:v>
                </c:pt>
                <c:pt idx="1">
                  <c:v>704</c:v>
                </c:pt>
                <c:pt idx="2">
                  <c:v>1055</c:v>
                </c:pt>
                <c:pt idx="3">
                  <c:v>751</c:v>
                </c:pt>
                <c:pt idx="4">
                  <c:v>640</c:v>
                </c:pt>
                <c:pt idx="5">
                  <c:v>436</c:v>
                </c:pt>
                <c:pt idx="6">
                  <c:v>746</c:v>
                </c:pt>
                <c:pt idx="7">
                  <c:v>567</c:v>
                </c:pt>
                <c:pt idx="8">
                  <c:v>982</c:v>
                </c:pt>
                <c:pt idx="9">
                  <c:v>856</c:v>
                </c:pt>
                <c:pt idx="10">
                  <c:v>1076</c:v>
                </c:pt>
                <c:pt idx="11">
                  <c:v>1208</c:v>
                </c:pt>
                <c:pt idx="12">
                  <c:v>746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Grocery purchases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2025-10</c:v>
                  </c:pt>
                  <c:pt idx="1">
                    <c:v>2025-11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  <c:pt idx="7">
                    <c:v>2026-05</c:v>
                  </c:pt>
                  <c:pt idx="8">
                    <c:v>2026-06</c:v>
                  </c:pt>
                  <c:pt idx="9">
                    <c:v>2026-07</c:v>
                  </c:pt>
                  <c:pt idx="10">
                    <c:v>2026-08</c:v>
                  </c:pt>
                  <c:pt idx="11">
                    <c:v>2026-09</c:v>
                  </c:pt>
                  <c:pt idx="12">
                    <c:v>2026-10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780</c:v>
                </c:pt>
                <c:pt idx="1">
                  <c:v>2448</c:v>
                </c:pt>
                <c:pt idx="2">
                  <c:v>3102</c:v>
                </c:pt>
                <c:pt idx="3">
                  <c:v>2962</c:v>
                </c:pt>
                <c:pt idx="4">
                  <c:v>2421</c:v>
                </c:pt>
                <c:pt idx="5">
                  <c:v>2204</c:v>
                </c:pt>
                <c:pt idx="6">
                  <c:v>1911</c:v>
                </c:pt>
                <c:pt idx="7">
                  <c:v>2172</c:v>
                </c:pt>
                <c:pt idx="8">
                  <c:v>2753</c:v>
                </c:pt>
                <c:pt idx="9">
                  <c:v>2978</c:v>
                </c:pt>
                <c:pt idx="10">
                  <c:v>3767</c:v>
                </c:pt>
                <c:pt idx="11">
                  <c:v>2980</c:v>
                </c:pt>
                <c:pt idx="12">
                  <c:v>2418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₹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2"/>
                </a:solidFill>
                <a:latin typeface="+mn-lt"/>
              </a:rPr>
              <a:t>Average logged intake as % of documented daily target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daily target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Calories (maximum)</c:v>
                  </c:pt>
                  <c:pt idx="1">
                    <c:v>Fibre (minimum)</c:v>
                  </c:pt>
                  <c:pt idx="2">
                    <c:v>Protein (minimum)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58</c:v>
                </c:pt>
                <c:pt idx="2">
                  <c:v>77.7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2"/>
                </a:solidFill>
                <a:latin typeface="+mn-lt"/>
              </a:rPr>
              <a:t>Each food: purchase transactions (x) vs mean explicit rating (y)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rating</c:v>
                </c:pt>
              </c:strCache>
            </c:strRef>
          </c:tx>
          <c:spPr>
            <a:solidFill>
              <a:srgbClr val="2E7D5B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xVal>
            <c:numRef>
              <c:f>Sheet1!$A$2:$A$38</c:f>
              <c:numCache>
                <c:formatCode>General</c:formatCode>
                <c:ptCount val="37"/>
                <c:pt idx="0">
                  <c:v>44</c:v>
                </c:pt>
                <c:pt idx="1">
                  <c:v>30</c:v>
                </c:pt>
                <c:pt idx="2">
                  <c:v>43</c:v>
                </c:pt>
                <c:pt idx="3">
                  <c:v>110</c:v>
                </c:pt>
                <c:pt idx="4">
                  <c:v>0</c:v>
                </c:pt>
                <c:pt idx="5">
                  <c:v>24</c:v>
                </c:pt>
                <c:pt idx="6">
                  <c:v>30</c:v>
                </c:pt>
                <c:pt idx="7">
                  <c:v>26</c:v>
                </c:pt>
                <c:pt idx="8">
                  <c:v>25</c:v>
                </c:pt>
                <c:pt idx="9">
                  <c:v>42</c:v>
                </c:pt>
                <c:pt idx="10">
                  <c:v>40</c:v>
                </c:pt>
                <c:pt idx="11">
                  <c:v>25</c:v>
                </c:pt>
                <c:pt idx="12">
                  <c:v>12</c:v>
                </c:pt>
                <c:pt idx="13">
                  <c:v>45</c:v>
                </c:pt>
                <c:pt idx="14">
                  <c:v>71</c:v>
                </c:pt>
                <c:pt idx="15">
                  <c:v>17</c:v>
                </c:pt>
                <c:pt idx="16">
                  <c:v>18</c:v>
                </c:pt>
                <c:pt idx="17">
                  <c:v>3</c:v>
                </c:pt>
                <c:pt idx="18">
                  <c:v>0</c:v>
                </c:pt>
                <c:pt idx="19">
                  <c:v>11</c:v>
                </c:pt>
                <c:pt idx="20">
                  <c:v>0</c:v>
                </c:pt>
                <c:pt idx="21">
                  <c:v>0</c:v>
                </c:pt>
                <c:pt idx="22">
                  <c:v>13</c:v>
                </c:pt>
                <c:pt idx="23">
                  <c:v>17</c:v>
                </c:pt>
                <c:pt idx="24">
                  <c:v>71</c:v>
                </c:pt>
                <c:pt idx="25">
                  <c:v>11</c:v>
                </c:pt>
                <c:pt idx="26">
                  <c:v>15</c:v>
                </c:pt>
                <c:pt idx="27">
                  <c:v>71</c:v>
                </c:pt>
                <c:pt idx="28">
                  <c:v>9</c:v>
                </c:pt>
                <c:pt idx="29">
                  <c:v>29</c:v>
                </c:pt>
                <c:pt idx="30">
                  <c:v>13</c:v>
                </c:pt>
                <c:pt idx="31">
                  <c:v>5</c:v>
                </c:pt>
                <c:pt idx="32">
                  <c:v>0</c:v>
                </c:pt>
                <c:pt idx="33">
                  <c:v>28</c:v>
                </c:pt>
                <c:pt idx="34">
                  <c:v>6</c:v>
                </c:pt>
                <c:pt idx="35">
                  <c:v>1</c:v>
                </c:pt>
                <c:pt idx="36">
                  <c:v>1</c:v>
                </c:pt>
              </c:numCache>
            </c:numRef>
          </c:xVal>
          <c:yVal>
            <c:numRef>
              <c:f>Sheet1!$B$2:$B$38</c:f>
              <c:numCache>
                <c:formatCode>General</c:formatCode>
                <c:ptCount val="37"/>
                <c:pt idx="0">
                  <c:v>4.31</c:v>
                </c:pt>
                <c:pt idx="1">
                  <c:v>4</c:v>
                </c:pt>
                <c:pt idx="2">
                  <c:v>4.62</c:v>
                </c:pt>
                <c:pt idx="3">
                  <c:v>4.15</c:v>
                </c:pt>
                <c:pt idx="4">
                  <c:v>3.82</c:v>
                </c:pt>
                <c:pt idx="5">
                  <c:v>3.64</c:v>
                </c:pt>
                <c:pt idx="6">
                  <c:v>3.7</c:v>
                </c:pt>
                <c:pt idx="7">
                  <c:v>4.22</c:v>
                </c:pt>
                <c:pt idx="8">
                  <c:v>4</c:v>
                </c:pt>
                <c:pt idx="9">
                  <c:v>4.38</c:v>
                </c:pt>
                <c:pt idx="10">
                  <c:v>2.75</c:v>
                </c:pt>
                <c:pt idx="11">
                  <c:v>3.86</c:v>
                </c:pt>
                <c:pt idx="12">
                  <c:v>4.5</c:v>
                </c:pt>
                <c:pt idx="13">
                  <c:v>4.5</c:v>
                </c:pt>
                <c:pt idx="14">
                  <c:v>4.33</c:v>
                </c:pt>
                <c:pt idx="15">
                  <c:v>3</c:v>
                </c:pt>
                <c:pt idx="16">
                  <c:v>4.5</c:v>
                </c:pt>
                <c:pt idx="17">
                  <c:v>4.25</c:v>
                </c:pt>
                <c:pt idx="18">
                  <c:v>4.25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2.75</c:v>
                </c:pt>
                <c:pt idx="23">
                  <c:v>4</c:v>
                </c:pt>
                <c:pt idx="24">
                  <c:v>4</c:v>
                </c:pt>
                <c:pt idx="25">
                  <c:v>2.33</c:v>
                </c:pt>
                <c:pt idx="26">
                  <c:v>5</c:v>
                </c:pt>
                <c:pt idx="27">
                  <c:v>4.5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3</c:v>
                </c:pt>
                <c:pt idx="35">
                  <c:v>2</c:v>
                </c:pt>
                <c:pt idx="36">
                  <c:v>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Purchases in 365 days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Mean rating (1–5)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2"/>
                </a:solidFill>
                <a:latin typeface="+mn-lt"/>
              </a:rPr>
              <a:t>Protein change vs baseline: Paneer Butter Masala + 2 roti (g)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Protein change (g)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+0.0;−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Serving x2</c:v>
                  </c:pt>
                  <c:pt idx="1">
                    <c:v>Add boiled eggs</c:v>
                  </c:pt>
                  <c:pt idx="2">
                    <c:v>Swap: chicken salad bowl</c:v>
                  </c:pt>
                  <c:pt idx="3">
                    <c:v>Swap: home thali + curd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13</c:v>
                </c:pt>
                <c:pt idx="2">
                  <c:v>12</c:v>
                </c:pt>
                <c:pt idx="3">
                  <c:v>-2.8</c:v>
                </c:pt>
              </c:numCache>
            </c:numRef>
          </c:val>
        </c:ser>
        <c:dLbls>
          <c:numFmt formatCode="+0.0;−0.0;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FoodSpend Insights · synthetic data · not medical advice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FoodSpend Insights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should I eat next, and why? Personalised nutrition analytics from 365 days of food history.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Synthetic dataset · 2025-10-27 to 2026-10-26 · decision support, not medical advice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answer: a high-protein home lunch at ₹85</a:t>
            </a:r>
            <a:endParaRPr lang="en-US" sz="3200" dirty="0"/>
          </a:p>
        </p:txBody>
      </p:sp>
      <p:sp>
        <p:nvSpPr>
          <p:cNvPr id="3" name="card-1"/>
          <p:cNvSpPr/>
          <p:nvPr/>
        </p:nvSpPr>
        <p:spPr>
          <a:xfrm>
            <a:off x="548640" y="1325880"/>
            <a:ext cx="58521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"/>
          <p:cNvSpPr txBox="1"/>
          <p:nvPr/>
        </p:nvSpPr>
        <p:spPr>
          <a:xfrm>
            <a:off x="8229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RECOMMENDED LUNCH · PROTEIN GOAL · ₹350 BUDGET</a:t>
            </a:r>
            <a:endParaRPr lang="en-US" sz="1100" dirty="0"/>
          </a:p>
        </p:txBody>
      </p:sp>
      <p:sp>
        <p:nvSpPr>
          <p:cNvPr id="5" name="text-3"/>
          <p:cNvSpPr txBox="1"/>
          <p:nvPr/>
        </p:nvSpPr>
        <p:spPr>
          <a:xfrm>
            <a:off x="822960" y="1920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Paneer Bhurji with 2 Roti</a:t>
            </a:r>
            <a:endParaRPr lang="en-US" sz="2600" dirty="0"/>
          </a:p>
        </p:txBody>
      </p:sp>
      <p:sp>
        <p:nvSpPr>
          <p:cNvPr id="6" name="list-4"/>
          <p:cNvSpPr txBox="1"/>
          <p:nvPr/>
        </p:nvSpPr>
        <p:spPr>
          <a:xfrm>
            <a:off x="822960" y="283464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26 g protein vs a 22.9 g lunch target (35% of 65.5 g/day)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520 kcal, within the 738 kcal lunch allowance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₹85 estimated cost, leaving ₹265 of the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Liked in explicit feedback; confidence High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Best delivery-only option: Idli Sambar (3 idli) + Boiled Eggs, ₹139, 24 g protein</a:t>
            </a:r>
            <a:endParaRPr lang="en-US" sz="1400" dirty="0"/>
          </a:p>
        </p:txBody>
      </p:sp>
      <p:sp>
        <p:nvSpPr>
          <p:cNvPr id="7" name="card-5"/>
          <p:cNvSpPr/>
          <p:nvPr/>
        </p:nvSpPr>
        <p:spPr>
          <a:xfrm>
            <a:off x="6766560" y="13258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6"/>
          <p:cNvSpPr txBox="1"/>
          <p:nvPr/>
        </p:nvSpPr>
        <p:spPr>
          <a:xfrm>
            <a:off x="699516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₹1,48,988</a:t>
            </a:r>
            <a:endParaRPr lang="en-US" sz="3000" dirty="0"/>
          </a:p>
        </p:txBody>
      </p:sp>
      <p:sp>
        <p:nvSpPr>
          <p:cNvPr id="9" name="text-7"/>
          <p:cNvSpPr txBox="1"/>
          <p:nvPr/>
        </p:nvSpPr>
        <p:spPr>
          <a:xfrm>
            <a:off x="699516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spent on food in 365 days (synthetic)</a:t>
            </a:r>
            <a:endParaRPr lang="en-US" sz="1200" dirty="0"/>
          </a:p>
        </p:txBody>
      </p:sp>
      <p:sp>
        <p:nvSpPr>
          <p:cNvPr id="10" name="card-8"/>
          <p:cNvSpPr/>
          <p:nvPr/>
        </p:nvSpPr>
        <p:spPr>
          <a:xfrm>
            <a:off x="9281160" y="13258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9"/>
          <p:cNvSpPr txBox="1"/>
          <p:nvPr/>
        </p:nvSpPr>
        <p:spPr>
          <a:xfrm>
            <a:off x="950976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 g</a:t>
            </a:r>
            <a:endParaRPr lang="en-US" sz="3000" dirty="0"/>
          </a:p>
        </p:txBody>
      </p:sp>
      <p:sp>
        <p:nvSpPr>
          <p:cNvPr id="12" name="text-10"/>
          <p:cNvSpPr txBox="1"/>
          <p:nvPr/>
        </p:nvSpPr>
        <p:spPr>
          <a:xfrm>
            <a:off x="950976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logged protein per day vs 65.5 g target</a:t>
            </a:r>
            <a:endParaRPr lang="en-US" sz="1200" dirty="0"/>
          </a:p>
        </p:txBody>
      </p:sp>
      <p:sp>
        <p:nvSpPr>
          <p:cNvPr id="13" name="card-11"/>
          <p:cNvSpPr/>
          <p:nvPr/>
        </p:nvSpPr>
        <p:spPr>
          <a:xfrm>
            <a:off x="6766560" y="29260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2"/>
          <p:cNvSpPr txBox="1"/>
          <p:nvPr/>
        </p:nvSpPr>
        <p:spPr>
          <a:xfrm>
            <a:off x="6995160" y="3108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</a:t>
            </a:r>
            <a:endParaRPr lang="en-US" sz="3000" dirty="0"/>
          </a:p>
        </p:txBody>
      </p:sp>
      <p:sp>
        <p:nvSpPr>
          <p:cNvPr id="15" name="text-13"/>
          <p:cNvSpPr txBox="1"/>
          <p:nvPr/>
        </p:nvSpPr>
        <p:spPr>
          <a:xfrm>
            <a:off x="699516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meal combinations scored for this lunch</a:t>
            </a:r>
            <a:endParaRPr lang="en-US" sz="1200" dirty="0"/>
          </a:p>
        </p:txBody>
      </p:sp>
      <p:sp>
        <p:nvSpPr>
          <p:cNvPr id="16" name="card-14"/>
          <p:cNvSpPr/>
          <p:nvPr/>
        </p:nvSpPr>
        <p:spPr>
          <a:xfrm>
            <a:off x="9281160" y="29260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15"/>
          <p:cNvSpPr txBox="1"/>
          <p:nvPr/>
        </p:nvSpPr>
        <p:spPr>
          <a:xfrm>
            <a:off x="9509760" y="3108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-16"/>
          <p:cNvSpPr txBox="1"/>
          <p:nvPr/>
        </p:nvSpPr>
        <p:spPr>
          <a:xfrm>
            <a:off x="950976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foods excluded by disliked / avoid feedback</a:t>
            </a:r>
            <a:endParaRPr lang="en-US" sz="1200" dirty="0"/>
          </a:p>
        </p:txBody>
      </p:sp>
      <p:sp>
        <p:nvSpPr>
          <p:cNvPr id="19" name="text-17"/>
          <p:cNvSpPr txBox="1"/>
          <p:nvPr/>
        </p:nvSpPr>
        <p:spPr>
          <a:xfrm>
            <a:off x="6766560" y="4617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Scores combine goal progress, explicit ratings and cost with published weights; all values recalculate when the budget, goal or food choices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linked synthetic datasets cover one year</a:t>
            </a:r>
            <a:endParaRPr lang="en-US" sz="3200" dirty="0"/>
          </a:p>
        </p:txBody>
      </p:sp>
      <p:sp>
        <p:nvSpPr>
          <p:cNvPr id="3" name="card-18"/>
          <p:cNvSpPr/>
          <p:nvPr/>
        </p:nvSpPr>
        <p:spPr>
          <a:xfrm>
            <a:off x="548640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9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20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text-21"/>
          <p:cNvSpPr txBox="1"/>
          <p:nvPr/>
        </p:nvSpPr>
        <p:spPr>
          <a:xfrm>
            <a:off x="7772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Orders &amp; consumption</a:t>
            </a:r>
            <a:endParaRPr lang="en-US" sz="1800" dirty="0"/>
          </a:p>
        </p:txBody>
      </p:sp>
      <p:sp>
        <p:nvSpPr>
          <p:cNvPr id="7" name="text-22"/>
          <p:cNvSpPr txBox="1"/>
          <p:nvPr/>
        </p:nvSpPr>
        <p:spPr>
          <a:xfrm>
            <a:off x="77724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1223 orders, 1755 items. Purchases, home meals, consumption status and portion eaten</a:t>
            </a:r>
            <a:endParaRPr lang="en-US" sz="1300" dirty="0"/>
          </a:p>
        </p:txBody>
      </p:sp>
      <p:sp>
        <p:nvSpPr>
          <p:cNvPr id="8" name="card-23"/>
          <p:cNvSpPr/>
          <p:nvPr/>
        </p:nvSpPr>
        <p:spPr>
          <a:xfrm>
            <a:off x="3364992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4"/>
          <p:cNvSpPr/>
          <p:nvPr/>
        </p:nvSpPr>
        <p:spPr>
          <a:xfrm>
            <a:off x="3593592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25"/>
          <p:cNvSpPr txBox="1"/>
          <p:nvPr/>
        </p:nvSpPr>
        <p:spPr>
          <a:xfrm>
            <a:off x="35935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-26"/>
          <p:cNvSpPr txBox="1"/>
          <p:nvPr/>
        </p:nvSpPr>
        <p:spPr>
          <a:xfrm>
            <a:off x="3593592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Preferences &amp; feedback</a:t>
            </a:r>
            <a:endParaRPr lang="en-US" sz="1800" dirty="0"/>
          </a:p>
        </p:txBody>
      </p:sp>
      <p:sp>
        <p:nvSpPr>
          <p:cNvPr id="12" name="text-27"/>
          <p:cNvSpPr txBox="1"/>
          <p:nvPr/>
        </p:nvSpPr>
        <p:spPr>
          <a:xfrm>
            <a:off x="3593592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206 ratings (1–5) with liked / acceptable / disliked / avoid labels</a:t>
            </a:r>
            <a:endParaRPr lang="en-US" sz="1300" dirty="0"/>
          </a:p>
        </p:txBody>
      </p:sp>
      <p:sp>
        <p:nvSpPr>
          <p:cNvPr id="13" name="card-28"/>
          <p:cNvSpPr/>
          <p:nvPr/>
        </p:nvSpPr>
        <p:spPr>
          <a:xfrm>
            <a:off x="6181344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29"/>
          <p:cNvSpPr/>
          <p:nvPr/>
        </p:nvSpPr>
        <p:spPr>
          <a:xfrm>
            <a:off x="6409944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30"/>
          <p:cNvSpPr txBox="1"/>
          <p:nvPr/>
        </p:nvSpPr>
        <p:spPr>
          <a:xfrm>
            <a:off x="64099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text-31"/>
          <p:cNvSpPr txBox="1"/>
          <p:nvPr/>
        </p:nvSpPr>
        <p:spPr>
          <a:xfrm>
            <a:off x="6409944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 &amp; goals</a:t>
            </a:r>
            <a:endParaRPr lang="en-US" sz="1800" dirty="0"/>
          </a:p>
        </p:txBody>
      </p:sp>
      <p:sp>
        <p:nvSpPr>
          <p:cNvPr id="17" name="text-32"/>
          <p:cNvSpPr txBox="1"/>
          <p:nvPr/>
        </p:nvSpPr>
        <p:spPr>
          <a:xfrm>
            <a:off x="6409944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79 measurements (weight, waist, BP, glucose); 3 goals with cited references</a:t>
            </a:r>
            <a:endParaRPr lang="en-US" sz="1300" dirty="0"/>
          </a:p>
        </p:txBody>
      </p:sp>
      <p:sp>
        <p:nvSpPr>
          <p:cNvPr id="18" name="card-33"/>
          <p:cNvSpPr/>
          <p:nvPr/>
        </p:nvSpPr>
        <p:spPr>
          <a:xfrm>
            <a:off x="8997696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34"/>
          <p:cNvSpPr/>
          <p:nvPr/>
        </p:nvSpPr>
        <p:spPr>
          <a:xfrm>
            <a:off x="922629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35"/>
          <p:cNvSpPr txBox="1"/>
          <p:nvPr/>
        </p:nvSpPr>
        <p:spPr>
          <a:xfrm>
            <a:off x="922629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1" name="text-36"/>
          <p:cNvSpPr txBox="1"/>
          <p:nvPr/>
        </p:nvSpPr>
        <p:spPr>
          <a:xfrm>
            <a:off x="9226296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Nutrition &amp; meal options</a:t>
            </a:r>
            <a:endParaRPr lang="en-US" sz="1800" dirty="0"/>
          </a:p>
        </p:txBody>
      </p:sp>
      <p:sp>
        <p:nvSpPr>
          <p:cNvPr id="22" name="text-37"/>
          <p:cNvSpPr txBox="1"/>
          <p:nvPr/>
        </p:nvSpPr>
        <p:spPr>
          <a:xfrm>
            <a:off x="9226296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 foods with per-serving or per-100 g nutrients; 80 priced meal options</a:t>
            </a:r>
            <a:endParaRPr lang="en-US" sz="1300" dirty="0"/>
          </a:p>
        </p:txBody>
      </p:sp>
      <p:sp>
        <p:nvSpPr>
          <p:cNvPr id="23" name="list-38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Stable IDs link every table: orders → items → foods → nutrition; feedback → food (and order); measurements → person.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Generated by a seeded script (reproducible): weekday delivery lunches, home dinners, grocery runs, a 3-week travel gap.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Purchase frequency is driven by convenience, not by the hidden ratings, so buying and liking can diverge.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Clearly labelled synthetic; nutrients approximate IFCT 2017 / USDA values; targets cite ICMR-NIN 2020, DGA, WHO, IOM.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Architecture: one set of formulas from CSV to dashboard</a:t>
            </a:r>
            <a:endParaRPr lang="en-US" sz="3200" dirty="0"/>
          </a:p>
        </p:txBody>
      </p:sp>
      <p:sp>
        <p:nvSpPr>
          <p:cNvPr id="3" name="card-39"/>
          <p:cNvSpPr/>
          <p:nvPr/>
        </p:nvSpPr>
        <p:spPr>
          <a:xfrm>
            <a:off x="548640" y="1554480"/>
            <a:ext cx="19933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0"/>
          <p:cNvSpPr txBox="1"/>
          <p:nvPr/>
        </p:nvSpPr>
        <p:spPr>
          <a:xfrm>
            <a:off x="73152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Generate</a:t>
            </a:r>
            <a:endParaRPr lang="en-US" sz="1800" dirty="0"/>
          </a:p>
        </p:txBody>
      </p:sp>
      <p:sp>
        <p:nvSpPr>
          <p:cNvPr id="5" name="text-41"/>
          <p:cNvSpPr txBox="1"/>
          <p:nvPr/>
        </p:nvSpPr>
        <p:spPr>
          <a:xfrm>
            <a:off x="73152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Seeded synthetic CSVs with planted quality issues</a:t>
            </a:r>
            <a:endParaRPr lang="en-US" sz="1300" dirty="0"/>
          </a:p>
        </p:txBody>
      </p:sp>
      <p:sp>
        <p:nvSpPr>
          <p:cNvPr id="6" name="arrow-42"/>
          <p:cNvSpPr/>
          <p:nvPr/>
        </p:nvSpPr>
        <p:spPr>
          <a:xfrm>
            <a:off x="2560320" y="2331720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ard-43"/>
          <p:cNvSpPr/>
          <p:nvPr/>
        </p:nvSpPr>
        <p:spPr>
          <a:xfrm>
            <a:off x="2816352" y="1554480"/>
            <a:ext cx="19933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44"/>
          <p:cNvSpPr txBox="1"/>
          <p:nvPr/>
        </p:nvSpPr>
        <p:spPr>
          <a:xfrm>
            <a:off x="2999232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</a:t>
            </a:r>
            <a:endParaRPr lang="en-US" sz="1800" dirty="0"/>
          </a:p>
        </p:txBody>
      </p:sp>
      <p:sp>
        <p:nvSpPr>
          <p:cNvPr id="9" name="text-45"/>
          <p:cNvSpPr txBox="1"/>
          <p:nvPr/>
        </p:nvSpPr>
        <p:spPr>
          <a:xfrm>
            <a:off x="2999232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Validate, standardise, reject with reasons</a:t>
            </a:r>
            <a:endParaRPr lang="en-US" sz="1300" dirty="0"/>
          </a:p>
        </p:txBody>
      </p:sp>
      <p:sp>
        <p:nvSpPr>
          <p:cNvPr id="10" name="arrow-46"/>
          <p:cNvSpPr/>
          <p:nvPr/>
        </p:nvSpPr>
        <p:spPr>
          <a:xfrm>
            <a:off x="4828032" y="2331720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-47"/>
          <p:cNvSpPr/>
          <p:nvPr/>
        </p:nvSpPr>
        <p:spPr>
          <a:xfrm>
            <a:off x="5084064" y="1554480"/>
            <a:ext cx="19933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48"/>
          <p:cNvSpPr txBox="1"/>
          <p:nvPr/>
        </p:nvSpPr>
        <p:spPr>
          <a:xfrm>
            <a:off x="5266944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MySQL</a:t>
            </a:r>
            <a:endParaRPr lang="en-US" sz="1800" dirty="0"/>
          </a:p>
        </p:txBody>
      </p:sp>
      <p:sp>
        <p:nvSpPr>
          <p:cNvPr id="13" name="text-49"/>
          <p:cNvSpPr txBox="1"/>
          <p:nvPr/>
        </p:nvSpPr>
        <p:spPr>
          <a:xfrm>
            <a:off x="5266944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Constrained schema, idempotent import</a:t>
            </a:r>
            <a:endParaRPr lang="en-US" sz="1300" dirty="0"/>
          </a:p>
        </p:txBody>
      </p:sp>
      <p:sp>
        <p:nvSpPr>
          <p:cNvPr id="14" name="arrow-50"/>
          <p:cNvSpPr/>
          <p:nvPr/>
        </p:nvSpPr>
        <p:spPr>
          <a:xfrm>
            <a:off x="7095744" y="2331720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rd-51"/>
          <p:cNvSpPr/>
          <p:nvPr/>
        </p:nvSpPr>
        <p:spPr>
          <a:xfrm>
            <a:off x="7351776" y="1554480"/>
            <a:ext cx="1993392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52"/>
          <p:cNvSpPr txBox="1"/>
          <p:nvPr/>
        </p:nvSpPr>
        <p:spPr>
          <a:xfrm>
            <a:off x="7534656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Django API</a:t>
            </a:r>
            <a:endParaRPr lang="en-US" sz="1800" dirty="0"/>
          </a:p>
        </p:txBody>
      </p:sp>
      <p:sp>
        <p:nvSpPr>
          <p:cNvPr id="17" name="text-53"/>
          <p:cNvSpPr txBox="1"/>
          <p:nvPr/>
        </p:nvSpPr>
        <p:spPr>
          <a:xfrm>
            <a:off x="7534656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DRF views over foodspend_core formulas</a:t>
            </a:r>
            <a:endParaRPr lang="en-US" sz="1300" dirty="0"/>
          </a:p>
        </p:txBody>
      </p:sp>
      <p:sp>
        <p:nvSpPr>
          <p:cNvPr id="18" name="arrow-54"/>
          <p:cNvSpPr/>
          <p:nvPr/>
        </p:nvSpPr>
        <p:spPr>
          <a:xfrm>
            <a:off x="9363456" y="2331720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ard-55"/>
          <p:cNvSpPr/>
          <p:nvPr/>
        </p:nvSpPr>
        <p:spPr>
          <a:xfrm>
            <a:off x="9619488" y="1554480"/>
            <a:ext cx="19933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56"/>
          <p:cNvSpPr txBox="1"/>
          <p:nvPr/>
        </p:nvSpPr>
        <p:spPr>
          <a:xfrm>
            <a:off x="9802368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React</a:t>
            </a:r>
            <a:endParaRPr lang="en-US" sz="1800" dirty="0"/>
          </a:p>
        </p:txBody>
      </p:sp>
      <p:sp>
        <p:nvSpPr>
          <p:cNvPr id="21" name="text-57"/>
          <p:cNvSpPr txBox="1"/>
          <p:nvPr/>
        </p:nvSpPr>
        <p:spPr>
          <a:xfrm>
            <a:off x="9802368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Plotly dashboard and simulators</a:t>
            </a:r>
            <a:endParaRPr lang="en-US" sz="1300" dirty="0"/>
          </a:p>
        </p:txBody>
      </p:sp>
      <p:sp>
        <p:nvSpPr>
          <p:cNvPr id="22" name="card-58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59"/>
          <p:cNvSpPr txBox="1"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holds together</a:t>
            </a:r>
            <a:endParaRPr lang="en-US" sz="1800" dirty="0"/>
          </a:p>
        </p:txBody>
      </p:sp>
      <p:sp>
        <p:nvSpPr>
          <p:cNvPr id="24" name="list-60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foodspend_core (pure Python) holds every formula; the API and the Jupyter notebooks import the same functions.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48 SQL-vs-pandas checks and 35 backend tests compare database results with independent calculations.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browser never sends prices or nutrients: scenarios send food IDs and servings, and the server recalculates.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Stack: React 18 + Vite + Bootstrap + Plotly · Django 6 + DRF · MySQL 8 · pandas, NumPy, Matplotlib, Jupyter.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Cleaning caught every planted problem without guessing</a:t>
            </a:r>
            <a:endParaRPr lang="en-US" sz="3200" dirty="0"/>
          </a:p>
        </p:txBody>
      </p:sp>
      <p:graphicFrame>
        <p:nvGraphicFramePr>
          <p:cNvPr id="6" name="table-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291840"/>
                <a:gridCol w="2514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Check / 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exact duplicate rows removed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removed: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exact duplicate rows removed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removed: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health_measurements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exact duplicate rows removed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removed: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food_nutrition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foods with unknown nutrient values (kept as NULL, not zero)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foods: F013: fiber_g, F016: fiber_g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final_total recomputed from components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rows: 2; difference inr: 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serving units standardised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rows: 30; variants: G, ML, gm, grams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blank food_id resolved by exact normalised-name match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resolved: 3; unresolved: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unknown food (orphan food_id)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rejected: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quantity must be &gt;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rejected: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sum(item line totals) equals order items_subtotal (no double counting)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orders checked: 1223; mismatches: 0; orders without items: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food_feedback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rating missing or outside 1-5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rejected: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health_measurements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physiologically implausible value or unknown indicator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rows rejected: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62"/>
          <p:cNvSpPr/>
          <p:nvPr/>
        </p:nvSpPr>
        <p:spPr>
          <a:xfrm>
            <a:off x="8503920" y="132588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63"/>
          <p:cNvSpPr txBox="1"/>
          <p:nvPr/>
        </p:nvSpPr>
        <p:spPr>
          <a:xfrm>
            <a:off x="873252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6" name="text-64"/>
          <p:cNvSpPr txBox="1"/>
          <p:nvPr/>
        </p:nvSpPr>
        <p:spPr>
          <a:xfrm>
            <a:off x="873252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rows rejected and logged with the rule that rejected them</a:t>
            </a:r>
            <a:endParaRPr lang="en-US" sz="1200" dirty="0"/>
          </a:p>
        </p:txBody>
      </p:sp>
      <p:sp>
        <p:nvSpPr>
          <p:cNvPr id="7" name="card-65"/>
          <p:cNvSpPr/>
          <p:nvPr/>
        </p:nvSpPr>
        <p:spPr>
          <a:xfrm>
            <a:off x="8503920" y="292608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66"/>
          <p:cNvSpPr txBox="1"/>
          <p:nvPr/>
        </p:nvSpPr>
        <p:spPr>
          <a:xfrm>
            <a:off x="873252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 / 365</a:t>
            </a:r>
            <a:endParaRPr lang="en-US" sz="3000" dirty="0"/>
          </a:p>
        </p:txBody>
      </p:sp>
      <p:sp>
        <p:nvSpPr>
          <p:cNvPr id="9" name="text-67"/>
          <p:cNvSpPr txBox="1"/>
          <p:nvPr/>
        </p:nvSpPr>
        <p:spPr>
          <a:xfrm>
            <a:off x="873252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days with at least one record (travel gap in March)</a:t>
            </a:r>
            <a:endParaRPr lang="en-US" sz="1200" dirty="0"/>
          </a:p>
        </p:txBody>
      </p:sp>
      <p:sp>
        <p:nvSpPr>
          <p:cNvPr id="10" name="text-68"/>
          <p:cNvSpPr txBox="1"/>
          <p:nvPr/>
        </p:nvSpPr>
        <p:spPr>
          <a:xfrm>
            <a:off x="8503920" y="45262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Rules: a blank food ID is filled only by an exact normalised-name match; unknown nutrients stay NULL; purchases are never assumed eaten.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Delivery drives 71% of ₹1,48,988 annual food spending</a:t>
            </a:r>
            <a:endParaRPr lang="en-US" sz="3200" dirty="0"/>
          </a:p>
        </p:txBody>
      </p:sp>
      <p:graphicFrame>
        <p:nvGraphicFramePr>
          <p:cNvPr id="3" name="chart-69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70"/>
          <p:cNvSpPr/>
          <p:nvPr/>
        </p:nvSpPr>
        <p:spPr>
          <a:xfrm>
            <a:off x="8595360" y="132588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71"/>
          <p:cNvSpPr txBox="1"/>
          <p:nvPr/>
        </p:nvSpPr>
        <p:spPr>
          <a:xfrm>
            <a:off x="882396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₹12,425</a:t>
            </a:r>
            <a:endParaRPr lang="en-US" sz="3000" dirty="0"/>
          </a:p>
        </p:txBody>
      </p:sp>
      <p:sp>
        <p:nvSpPr>
          <p:cNvPr id="6" name="text-72"/>
          <p:cNvSpPr txBox="1"/>
          <p:nvPr/>
        </p:nvSpPr>
        <p:spPr>
          <a:xfrm>
            <a:off x="882396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per month across 365 days</a:t>
            </a:r>
            <a:endParaRPr lang="en-US" sz="1200" dirty="0"/>
          </a:p>
        </p:txBody>
      </p:sp>
      <p:sp>
        <p:nvSpPr>
          <p:cNvPr id="7" name="card-73"/>
          <p:cNvSpPr/>
          <p:nvPr/>
        </p:nvSpPr>
        <p:spPr>
          <a:xfrm>
            <a:off x="8595360" y="288036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74"/>
          <p:cNvSpPr txBox="1"/>
          <p:nvPr/>
        </p:nvSpPr>
        <p:spPr>
          <a:xfrm>
            <a:off x="882396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₹20,990</a:t>
            </a:r>
            <a:endParaRPr lang="en-US" sz="3000" dirty="0"/>
          </a:p>
        </p:txBody>
      </p:sp>
      <p:sp>
        <p:nvSpPr>
          <p:cNvPr id="9" name="text-75"/>
          <p:cNvSpPr txBox="1"/>
          <p:nvPr/>
        </p:nvSpPr>
        <p:spPr>
          <a:xfrm>
            <a:off x="882396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tax, delivery and platform charges (14.1%)</a:t>
            </a:r>
            <a:endParaRPr lang="en-US" sz="1200" dirty="0"/>
          </a:p>
        </p:txBody>
      </p:sp>
      <p:sp>
        <p:nvSpPr>
          <p:cNvPr id="10" name="text-76"/>
          <p:cNvSpPr txBox="1"/>
          <p:nvPr/>
        </p:nvSpPr>
        <p:spPr>
          <a:xfrm>
            <a:off x="8595360" y="44805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Spending = sum of order final totals (subtotal − discount + tax + fees) over 648 transactions; discounts saved ₹3,223. Home-meal ingredient estimates are excluded. March dips with the travel gap.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Logged protein and fibre sit below documented targets</a:t>
            </a:r>
            <a:endParaRPr lang="en-US" sz="3200" dirty="0"/>
          </a:p>
        </p:txBody>
      </p:sp>
      <p:graphicFrame>
        <p:nvGraphicFramePr>
          <p:cNvPr id="3" name="chart-77" descr=""/>
          <p:cNvGraphicFramePr/>
          <p:nvPr/>
        </p:nvGraphicFramePr>
        <p:xfrm>
          <a:off x="548640" y="12801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-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Logged avg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protein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65.5 g/day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Below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fibre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 g/day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Below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calories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1,434.1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2,110 kcal/day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fat % of energy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30%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Above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carb % of energy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45–65%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list-79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Based on 346 logged days (94.8% of the year); unlogged food is missing, so intake is likely underestimated.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Fibre is unknown for 2 dishes (57 meal items): reported as unknown, not zero.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Status labels are used only where a cited target exists; a value above a minimum is not scored as “better”.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Buying a food often does not mean liking it</a:t>
            </a:r>
            <a:endParaRPr lang="en-US" sz="3200" dirty="0"/>
          </a:p>
        </p:txBody>
      </p:sp>
      <p:graphicFrame>
        <p:nvGraphicFramePr>
          <p:cNvPr id="3" name="chart-8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81"/>
          <p:cNvSpPr/>
          <p:nvPr/>
        </p:nvSpPr>
        <p:spPr>
          <a:xfrm>
            <a:off x="7680960" y="132588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82"/>
          <p:cNvSpPr txBox="1"/>
          <p:nvPr/>
        </p:nvSpPr>
        <p:spPr>
          <a:xfrm>
            <a:off x="790956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3000" dirty="0"/>
          </a:p>
        </p:txBody>
      </p:sp>
      <p:sp>
        <p:nvSpPr>
          <p:cNvPr id="6" name="text-83"/>
          <p:cNvSpPr txBox="1"/>
          <p:nvPr/>
        </p:nvSpPr>
        <p:spPr>
          <a:xfrm>
            <a:off x="790956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rank correlation (Spearman) between rating and purchases across 37 rated foods</a:t>
            </a:r>
            <a:endParaRPr lang="en-US" sz="1200" dirty="0"/>
          </a:p>
        </p:txBody>
      </p:sp>
      <p:sp>
        <p:nvSpPr>
          <p:cNvPr id="7" name="card-84"/>
          <p:cNvSpPr/>
          <p:nvPr/>
        </p:nvSpPr>
        <p:spPr>
          <a:xfrm>
            <a:off x="7680960" y="292608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5"/>
          <p:cNvSpPr txBox="1"/>
          <p:nvPr/>
        </p:nvSpPr>
        <p:spPr>
          <a:xfrm>
            <a:off x="79095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</a:t>
            </a:r>
            <a:endParaRPr lang="en-US" sz="1200" dirty="0"/>
          </a:p>
        </p:txBody>
      </p:sp>
      <p:sp>
        <p:nvSpPr>
          <p:cNvPr id="9" name="text-86"/>
          <p:cNvSpPr txBox="1"/>
          <p:nvPr/>
        </p:nvSpPr>
        <p:spPr>
          <a:xfrm>
            <a:off x="7909560" y="3474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Veg Hakka Noodles is #9 by purchase count (40 purchases) but has a mean rating of 2.8/5 and latest label 'disliked'.</a:t>
            </a:r>
            <a:endParaRPr lang="en-US" sz="1300" dirty="0"/>
          </a:p>
        </p:txBody>
      </p:sp>
      <p:sp>
        <p:nvSpPr>
          <p:cNvPr id="10" name="text-87"/>
          <p:cNvSpPr txBox="1"/>
          <p:nvPr/>
        </p:nvSpPr>
        <p:spPr>
          <a:xfrm>
            <a:off x="7680960" y="5120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206 explicit feedback records. Recommendations use ratings only; disliked or avoided foods are excluded, and purchase counts are shown beside ratings but never used as evidence of liking.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Health indicators: trends reported, causes not claimed</a:t>
            </a:r>
            <a:endParaRPr lang="en-US" sz="3200" dirty="0"/>
          </a:p>
        </p:txBody>
      </p:sp>
      <p:graphicFrame>
        <p:nvGraphicFramePr>
          <p:cNvPr id="10" name="table-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143000"/>
                <a:gridCol w="822960"/>
                <a:gridCol w="868680"/>
                <a:gridCol w="10515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First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Readings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Reference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Latest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BMI (derived)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27.8 kg/m2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26.7 kg/m2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18.5–24.9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Above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Diastolic BP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88 mmHg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 mmHg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−11.0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Fasting glucose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104 mg/dL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97 mg/dL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−7.0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70–99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Systolic BP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127 mmHg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124 mmHg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119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Above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97.1 cm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92.1 cm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−5.0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89.9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Above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82.2 kg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78.9 kg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assessed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89"/>
          <p:cNvSpPr/>
          <p:nvPr/>
        </p:nvSpPr>
        <p:spPr>
          <a:xfrm>
            <a:off x="8778240" y="1325880"/>
            <a:ext cx="2834640" cy="47548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90"/>
          <p:cNvSpPr txBox="1"/>
          <p:nvPr/>
        </p:nvSpPr>
        <p:spPr>
          <a:xfrm>
            <a:off x="90068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to read this</a:t>
            </a:r>
            <a:endParaRPr lang="en-US" sz="1600" dirty="0"/>
          </a:p>
        </p:txBody>
      </p:sp>
      <p:sp>
        <p:nvSpPr>
          <p:cNvPr id="6" name="list-91"/>
          <p:cNvSpPr txBox="1"/>
          <p:nvPr/>
        </p:nvSpPr>
        <p:spPr>
          <a:xfrm>
            <a:off x="9006840" y="1965960"/>
            <a:ext cx="2423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values are simulated.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Weight weekly, waist and BP monthly, glucose quarterly; March has no readings.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Status compares the latest value with a cited range (WHO, ADA, ACC/AHA, IDF). It is not a diagnosis.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Changes co-occur with diet patterns but are not attributed to any food.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transparent score ranks every feasible meal</a:t>
            </a:r>
            <a:endParaRPr lang="en-US" sz="3200" dirty="0"/>
          </a:p>
        </p:txBody>
      </p:sp>
      <p:sp>
        <p:nvSpPr>
          <p:cNvPr id="3" name="badge-9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9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94"/>
          <p:cNvSpPr txBox="1"/>
          <p:nvPr/>
        </p:nvSpPr>
        <p:spPr>
          <a:xfrm>
            <a:off x="11887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Set the target</a:t>
            </a:r>
            <a:endParaRPr lang="en-US" sz="1700" dirty="0"/>
          </a:p>
        </p:txBody>
      </p:sp>
      <p:sp>
        <p:nvSpPr>
          <p:cNvPr id="6" name="text-95"/>
          <p:cNvSpPr txBox="1"/>
          <p:nvPr/>
        </p:nvSpPr>
        <p:spPr>
          <a:xfrm>
            <a:off x="393192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Daily goal × meal share (lunch 35%); recent 30-day intake for context</a:t>
            </a:r>
            <a:endParaRPr lang="en-US" sz="1300" dirty="0"/>
          </a:p>
        </p:txBody>
      </p:sp>
      <p:sp>
        <p:nvSpPr>
          <p:cNvPr id="7" name="badge-96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97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98"/>
          <p:cNvSpPr txBox="1"/>
          <p:nvPr/>
        </p:nvSpPr>
        <p:spPr>
          <a:xfrm>
            <a:off x="118872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candidates</a:t>
            </a:r>
            <a:endParaRPr lang="en-US" sz="1700" dirty="0"/>
          </a:p>
        </p:txBody>
      </p:sp>
      <p:sp>
        <p:nvSpPr>
          <p:cNvPr id="10" name="text-99"/>
          <p:cNvSpPr txBox="1"/>
          <p:nvPr/>
        </p:nvSpPr>
        <p:spPr>
          <a:xfrm>
            <a:off x="3931920" y="2331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main at allowed servings, alone or + one side / previously bought pantry food</a:t>
            </a:r>
            <a:endParaRPr lang="en-US" sz="1300" dirty="0"/>
          </a:p>
        </p:txBody>
      </p:sp>
      <p:sp>
        <p:nvSpPr>
          <p:cNvPr id="11" name="badge-10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10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102"/>
          <p:cNvSpPr txBox="1"/>
          <p:nvPr/>
        </p:nvSpPr>
        <p:spPr>
          <a:xfrm>
            <a:off x="11887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Apply constraints</a:t>
            </a:r>
            <a:endParaRPr lang="en-US" sz="1700" dirty="0"/>
          </a:p>
        </p:txBody>
      </p:sp>
      <p:sp>
        <p:nvSpPr>
          <p:cNvPr id="14" name="text-103"/>
          <p:cNvSpPr txBox="1"/>
          <p:nvPr/>
        </p:nvSpPr>
        <p:spPr>
          <a:xfrm>
            <a:off x="3931920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Cost ≤ budget · listed for the meal · latest label not disliked / avoid</a:t>
            </a:r>
            <a:endParaRPr lang="en-US" sz="1300" dirty="0"/>
          </a:p>
        </p:txBody>
      </p:sp>
      <p:sp>
        <p:nvSpPr>
          <p:cNvPr id="15" name="badge-10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05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106"/>
          <p:cNvSpPr txBox="1"/>
          <p:nvPr/>
        </p:nvSpPr>
        <p:spPr>
          <a:xfrm>
            <a:off x="118872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Score</a:t>
            </a:r>
            <a:endParaRPr lang="en-US" sz="1700" dirty="0"/>
          </a:p>
        </p:txBody>
      </p:sp>
      <p:sp>
        <p:nvSpPr>
          <p:cNvPr id="18" name="text-107"/>
          <p:cNvSpPr txBox="1"/>
          <p:nvPr/>
        </p:nvSpPr>
        <p:spPr>
          <a:xfrm>
            <a:off x="3931920" y="4251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0.5 goal + 0.3 preference + 0.2 cost (user-adjustable)</a:t>
            </a:r>
            <a:endParaRPr lang="en-US" sz="1300" dirty="0"/>
          </a:p>
        </p:txBody>
      </p:sp>
      <p:sp>
        <p:nvSpPr>
          <p:cNvPr id="19" name="badge-108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109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-110"/>
          <p:cNvSpPr txBox="1"/>
          <p:nvPr/>
        </p:nvSpPr>
        <p:spPr>
          <a:xfrm>
            <a:off x="118872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Explain</a:t>
            </a:r>
            <a:endParaRPr lang="en-US" sz="1700" dirty="0"/>
          </a:p>
        </p:txBody>
      </p:sp>
      <p:sp>
        <p:nvSpPr>
          <p:cNvPr id="22" name="text-111"/>
          <p:cNvSpPr txBox="1"/>
          <p:nvPr/>
        </p:nvSpPr>
        <p:spPr>
          <a:xfrm>
            <a:off x="3931920" y="5212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Reasons, alternatives, trade-offs, confidence, ±15% serving range</a:t>
            </a:r>
            <a:endParaRPr lang="en-US" sz="1300" dirty="0"/>
          </a:p>
        </p:txBody>
      </p:sp>
      <p:sp>
        <p:nvSpPr>
          <p:cNvPr id="23" name="card-112"/>
          <p:cNvSpPr/>
          <p:nvPr/>
        </p:nvSpPr>
        <p:spPr>
          <a:xfrm>
            <a:off x="7863840" y="1325880"/>
            <a:ext cx="3749040" cy="4754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-113"/>
          <p:cNvSpPr txBox="1"/>
          <p:nvPr/>
        </p:nvSpPr>
        <p:spPr>
          <a:xfrm>
            <a:off x="80924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 components</a:t>
            </a:r>
            <a:endParaRPr lang="en-US" sz="1600" dirty="0"/>
          </a:p>
        </p:txBody>
      </p:sp>
      <p:sp>
        <p:nvSpPr>
          <p:cNvPr id="25" name="list-114"/>
          <p:cNvSpPr txBox="1"/>
          <p:nvPr/>
        </p:nvSpPr>
        <p:spPr>
          <a:xfrm>
            <a:off x="8092440" y="196596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Goal = 0.7 × min(nutrient ÷ meal target, 1) + 0.3 × calorie 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Calorie fit = 1 at 60–100% of the meal allowance, lower outside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Preference = (rating − 1) ÷ 4, with rating shrunk toward the person’s average: (n·mean + 2·avg) ÷ (n + 2)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 = 1 − cost ÷ budget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Ties: higher preference, then lower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machine learning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Recommended lunch and four alternatives</a:t>
            </a:r>
            <a:endParaRPr lang="en-US" sz="3200" dirty="0"/>
          </a:p>
        </p:txBody>
      </p:sp>
      <p:graphicFrame>
        <p:nvGraphicFramePr>
          <p:cNvPr id="12" name="table-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1005840"/>
                <a:gridCol w="109728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Protein (g)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kcal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Home Paneer Bhurji with 2 Roti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₹85.00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0.887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Substitute the main dish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Home Dal, Rice and Sabzi Thali + Curd (Dahi)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₹94.08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611.5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0.867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Increase the serving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Home Paneer Bhurji with 2 Roti x1.5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₹127.50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 a previously purchased food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Home Paneer Bhurji with 2 Roti + Banana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₹91.36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27.3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626.8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0.885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Lowest-cost option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Home Dal, Rice and Sabzi Thali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₹75.00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0.795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116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17"/>
          <p:cNvSpPr txBox="1"/>
          <p:nvPr/>
        </p:nvSpPr>
        <p:spPr>
          <a:xfrm>
            <a:off x="77724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Trade-offs</a:t>
            </a:r>
            <a:endParaRPr lang="en-US" sz="1600" dirty="0"/>
          </a:p>
        </p:txBody>
      </p:sp>
      <p:sp>
        <p:nvSpPr>
          <p:cNvPr id="6" name="list-118"/>
          <p:cNvSpPr txBox="1"/>
          <p:nvPr/>
        </p:nvSpPr>
        <p:spPr>
          <a:xfrm>
            <a:off x="777240" y="44805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larger serving adds protein but also calories and cost, and scores slightly lower.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Adding a pantry food adds little cost; the dal thali swap trades protein for a lower price.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Excluded by feedback: Veg Hakka Noodles (disliked), Green Salad (disliked), Chole Bhature (disliked), Fish Curry Meal (avoid).</a:t>
            </a:r>
            <a:endParaRPr lang="en-US" sz="1300" dirty="0"/>
          </a:p>
        </p:txBody>
      </p:sp>
      <p:sp>
        <p:nvSpPr>
          <p:cNvPr id="7" name="card-119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20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Delivery-only lunch (₹350 budget)</a:t>
            </a:r>
            <a:endParaRPr lang="en-US" sz="1600" dirty="0"/>
          </a:p>
        </p:txBody>
      </p:sp>
      <p:sp>
        <p:nvSpPr>
          <p:cNvPr id="9" name="list-121"/>
          <p:cNvSpPr txBox="1"/>
          <p:nvPr/>
        </p:nvSpPr>
        <p:spPr>
          <a:xfrm>
            <a:off x="6446520" y="44805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Idli Sambar (3 idli) + Boiled Eggs: ₹139.09, 24 g protein, 485 kcal.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Substitute the main dish: Masala Dosa + Boiled Eggs (₹171, 22 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Increase the serving: Idli Sambar (3 idli) x2 + Banana (₹220, 23.3 g).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What-if: each change shifts protein and cost</a:t>
            </a:r>
            <a:endParaRPr lang="en-US" sz="3200" dirty="0"/>
          </a:p>
        </p:txBody>
      </p:sp>
      <p:graphicFrame>
        <p:nvGraphicFramePr>
          <p:cNvPr id="3" name="chart-122" descr=""/>
          <p:cNvGraphicFramePr/>
          <p:nvPr/>
        </p:nvGraphicFramePr>
        <p:xfrm>
          <a:off x="548640" y="12801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-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Cost 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kcal 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Within ₹350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Serving x2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+₹267.75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+720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boiled eggs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+₹14.84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+155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Swap: chicken salad bowl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+₹42.00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Swap: home thali + curd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−₹213.67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list-124"/>
          <p:cNvSpPr txBox="1"/>
          <p:nvPr/>
        </p:nvSpPr>
        <p:spPr>
          <a:xfrm>
            <a:off x="6949440" y="38404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Doubling the dish doubles protein but exceeds the budget.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Adding eggs from the pantry is the cheapest protein gain.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values are recalculated server-side from reference data for every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bigger budget does not buy a better delivery lunch here</a:t>
            </a:r>
            <a:endParaRPr lang="en-US" sz="3200" dirty="0"/>
          </a:p>
        </p:txBody>
      </p:sp>
      <p:graphicFrame>
        <p:nvGraphicFramePr>
          <p:cNvPr id="14" name="table-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3657600"/>
                <a:gridCol w="1097280"/>
                <a:gridCol w="1188720"/>
                <a:gridCol w="9144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Budget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Feasible combinations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Top-ranked option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Remaining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Protein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Idli Sambar (3 idli) + Boiled Eggs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₹139.09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₹10.91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92.7%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 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₹250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Idli Sambar (3 idli) + Boiled Eggs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₹139.09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₹110.91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55.6%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 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₹350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Idli Sambar (3 idli) + Boiled Eggs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₹139.09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₹210.91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39.7%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 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₹500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Idli Sambar (3 idli) + Boiled Eggs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₹139.09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₹360.91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27.8%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 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126"/>
          <p:cNvSpPr/>
          <p:nvPr/>
        </p:nvSpPr>
        <p:spPr>
          <a:xfrm>
            <a:off x="548640" y="384048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27"/>
          <p:cNvSpPr txBox="1"/>
          <p:nvPr/>
        </p:nvSpPr>
        <p:spPr>
          <a:xfrm>
            <a:off x="77724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</a:t>
            </a:r>
            <a:endParaRPr lang="en-US" sz="3000" dirty="0"/>
          </a:p>
        </p:txBody>
      </p:sp>
      <p:sp>
        <p:nvSpPr>
          <p:cNvPr id="6" name="text-128"/>
          <p:cNvSpPr txBox="1"/>
          <p:nvPr/>
        </p:nvSpPr>
        <p:spPr>
          <a:xfrm>
            <a:off x="77724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already covers the top delivery option once pantry eggs are allowed</a:t>
            </a:r>
            <a:endParaRPr lang="en-US" sz="1200" dirty="0"/>
          </a:p>
        </p:txBody>
      </p:sp>
      <p:sp>
        <p:nvSpPr>
          <p:cNvPr id="7" name="card-129"/>
          <p:cNvSpPr/>
          <p:nvPr/>
        </p:nvSpPr>
        <p:spPr>
          <a:xfrm>
            <a:off x="4389120" y="3840480"/>
            <a:ext cx="7223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st-130"/>
          <p:cNvSpPr txBox="1"/>
          <p:nvPr/>
        </p:nvSpPr>
        <p:spPr>
          <a:xfrm>
            <a:off x="4617720" y="40690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Raising the budget adds options but the same lunch keeps winning: more spending is not treated as healthier.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Budget utilisation and remaining budget are shown for every option; zero budgets are handled without division errors.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Prices are the latest in the synthetic history, not current market prices.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dashboard answers the question interactively</a:t>
            </a:r>
            <a:endParaRPr lang="en-US" sz="3200" dirty="0"/>
          </a:p>
        </p:txBody>
      </p:sp>
      <p:pic>
        <p:nvPicPr>
          <p:cNvPr id="3" name="img-131" descr="Dashboard page: KPIs, monthly spending and suggested next m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4489704"/>
          </a:xfrm>
          <a:prstGeom prst="rect">
            <a:avLst/>
          </a:prstGeom>
        </p:spPr>
      </p:pic>
      <p:pic>
        <p:nvPicPr>
          <p:cNvPr id="4" name="img-132" descr="Next-meal page: recommendation, reasons and confid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2926080" cy="1837944"/>
          </a:xfrm>
          <a:prstGeom prst="rect">
            <a:avLst/>
          </a:prstGeom>
        </p:spPr>
      </p:pic>
      <p:sp>
        <p:nvSpPr>
          <p:cNvPr id="5" name="list-133"/>
          <p:cNvSpPr txBox="1"/>
          <p:nvPr/>
        </p:nvSpPr>
        <p:spPr>
          <a:xfrm>
            <a:off x="8686800" y="33375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Nine pages: dashboard, food history, nutrition, preferences, health, next meal, what-if, budget, data &amp; evidence.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control (date range, goal, target, budget, source, weights, servings) triggers a server recalculation.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Charts carry titles, units and reference lines; status labels always pair an icon with 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3" name="card-134"/>
          <p:cNvSpPr/>
          <p:nvPr/>
        </p:nvSpPr>
        <p:spPr>
          <a:xfrm>
            <a:off x="548640" y="132588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35"/>
          <p:cNvSpPr txBox="1"/>
          <p:nvPr/>
        </p:nvSpPr>
        <p:spPr>
          <a:xfrm>
            <a:off x="77724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Delivery dominates spending</a:t>
            </a:r>
            <a:endParaRPr lang="en-US" sz="1500" dirty="0"/>
          </a:p>
        </p:txBody>
      </p:sp>
      <p:sp>
        <p:nvSpPr>
          <p:cNvPr id="5" name="text-136"/>
          <p:cNvSpPr txBox="1"/>
          <p:nvPr/>
        </p:nvSpPr>
        <p:spPr>
          <a:xfrm>
            <a:off x="777240" y="1828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Delivery orders account for Rs 106,275 of Rs 148,988 (71%) across 431 orders. Tax, delivery and platform charges add Rs 20,990 (14.1% of spending); discounts saved Rs 3,223.</a:t>
            </a:r>
            <a:endParaRPr lang="en-US" sz="1200" dirty="0"/>
          </a:p>
        </p:txBody>
      </p:sp>
      <p:sp>
        <p:nvSpPr>
          <p:cNvPr id="6" name="card-137"/>
          <p:cNvSpPr/>
          <p:nvPr/>
        </p:nvSpPr>
        <p:spPr>
          <a:xfrm>
            <a:off x="6172200" y="132588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38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Logged protein is below target</a:t>
            </a:r>
            <a:endParaRPr lang="en-US" sz="1500" dirty="0"/>
          </a:p>
        </p:txBody>
      </p:sp>
      <p:sp>
        <p:nvSpPr>
          <p:cNvPr id="8" name="text-139"/>
          <p:cNvSpPr txBox="1"/>
          <p:nvPr/>
        </p:nvSpPr>
        <p:spPr>
          <a:xfrm>
            <a:off x="6400800" y="1828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logged intake is 50.9 g/day vs a documented target of 65.5 (77.7%), over 346 logged days. Logging is incomplete, so true intake may be higher.</a:t>
            </a:r>
            <a:endParaRPr lang="en-US" sz="1200" dirty="0"/>
          </a:p>
        </p:txBody>
      </p:sp>
      <p:sp>
        <p:nvSpPr>
          <p:cNvPr id="9" name="card-140"/>
          <p:cNvSpPr/>
          <p:nvPr/>
        </p:nvSpPr>
        <p:spPr>
          <a:xfrm>
            <a:off x="548640" y="29718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41"/>
          <p:cNvSpPr txBox="1"/>
          <p:nvPr/>
        </p:nvSpPr>
        <p:spPr>
          <a:xfrm>
            <a:off x="777240" y="3108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Logged fibre is below target</a:t>
            </a:r>
            <a:endParaRPr lang="en-US" sz="1500" dirty="0"/>
          </a:p>
        </p:txBody>
      </p:sp>
      <p:sp>
        <p:nvSpPr>
          <p:cNvPr id="11" name="text-142"/>
          <p:cNvSpPr txBox="1"/>
          <p:nvPr/>
        </p:nvSpPr>
        <p:spPr>
          <a:xfrm>
            <a:off x="777240" y="34747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logged intake is 17.4 g/day vs a documented target of 30 (58.0%), over 346 logged days. Logging is incomplete, so true intake may be higher.</a:t>
            </a:r>
            <a:endParaRPr lang="en-US" sz="1200" dirty="0"/>
          </a:p>
        </p:txBody>
      </p:sp>
      <p:sp>
        <p:nvSpPr>
          <p:cNvPr id="12" name="card-143"/>
          <p:cNvSpPr/>
          <p:nvPr/>
        </p:nvSpPr>
        <p:spPr>
          <a:xfrm>
            <a:off x="6172200" y="29718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44"/>
          <p:cNvSpPr txBox="1"/>
          <p:nvPr/>
        </p:nvSpPr>
        <p:spPr>
          <a:xfrm>
            <a:off x="6400800" y="3108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Frequent purchases are not the same as preferences</a:t>
            </a:r>
            <a:endParaRPr lang="en-US" sz="1500" dirty="0"/>
          </a:p>
        </p:txBody>
      </p:sp>
      <p:sp>
        <p:nvSpPr>
          <p:cNvPr id="14" name="text-145"/>
          <p:cNvSpPr txBox="1"/>
          <p:nvPr/>
        </p:nvSpPr>
        <p:spPr>
          <a:xfrm>
            <a:off x="6400800" y="34747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Veg Hakka Noodles is #9 by purchase count (40 purchases) but has a mean rating of 2.8/5 and latest label 'disliked'.</a:t>
            </a:r>
            <a:endParaRPr lang="en-US" sz="1200" dirty="0"/>
          </a:p>
        </p:txBody>
      </p:sp>
      <p:sp>
        <p:nvSpPr>
          <p:cNvPr id="15" name="card-146"/>
          <p:cNvSpPr/>
          <p:nvPr/>
        </p:nvSpPr>
        <p:spPr>
          <a:xfrm>
            <a:off x="548640" y="46177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47"/>
          <p:cNvSpPr txBox="1"/>
          <p:nvPr/>
        </p:nvSpPr>
        <p:spPr>
          <a:xfrm>
            <a:off x="777240" y="4754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Well-rated options are under-used</a:t>
            </a:r>
            <a:endParaRPr lang="en-US" sz="1500" dirty="0"/>
          </a:p>
        </p:txBody>
      </p:sp>
      <p:sp>
        <p:nvSpPr>
          <p:cNvPr id="17" name="text-148"/>
          <p:cNvSpPr txBox="1"/>
          <p:nvPr/>
        </p:nvSpPr>
        <p:spPr>
          <a:xfrm>
            <a:off x="777240" y="5120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Sprouts Chaat is rated 4.2/5 (4 ratings) yet was purchased only 3 times.</a:t>
            </a:r>
            <a:endParaRPr lang="en-US" sz="1200" dirty="0"/>
          </a:p>
        </p:txBody>
      </p:sp>
      <p:sp>
        <p:nvSpPr>
          <p:cNvPr id="18" name="card-149"/>
          <p:cNvSpPr/>
          <p:nvPr/>
        </p:nvSpPr>
        <p:spPr>
          <a:xfrm>
            <a:off x="6172200" y="46177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50"/>
          <p:cNvSpPr txBox="1"/>
          <p:nvPr/>
        </p:nvSpPr>
        <p:spPr>
          <a:xfrm>
            <a:off x="6400800" y="4754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Weight trend (association only)</a:t>
            </a:r>
            <a:endParaRPr lang="en-US" sz="1500" dirty="0"/>
          </a:p>
        </p:txBody>
      </p:sp>
      <p:sp>
        <p:nvSpPr>
          <p:cNvPr id="20" name="text-151"/>
          <p:cNvSpPr txBox="1"/>
          <p:nvPr/>
        </p:nvSpPr>
        <p:spPr>
          <a:xfrm>
            <a:off x="6400800" y="5120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Recorded weight changed by -3.3 kg (82.2 -&gt; 78.9 kg, 41 readings, 2025-11-02 to 2026-10-25). This is not attributed to any food choice; measurement gaps exist (e.g. March).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 and what we would improve</a:t>
            </a:r>
            <a:endParaRPr lang="en-US" sz="3200" dirty="0"/>
          </a:p>
        </p:txBody>
      </p:sp>
      <p:sp>
        <p:nvSpPr>
          <p:cNvPr id="3" name="card-152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53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5" name="list-154"/>
          <p:cNvSpPr txBox="1"/>
          <p:nvPr/>
        </p:nvSpPr>
        <p:spPr>
          <a:xfrm>
            <a:off x="777240" y="196596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Synthetic data for one fictional person; nutrients are unverified estimates.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Intake covers logged meals only; grocery consumption is unknown.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Historical prices; no real-time availability or delivery times.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Meal shares, weights and ±15% uncertainty are assumptions.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 trends are associations; nothing here is medical advice.</a:t>
            </a:r>
            <a:endParaRPr lang="en-US" sz="1400" dirty="0"/>
          </a:p>
        </p:txBody>
      </p:sp>
      <p:sp>
        <p:nvSpPr>
          <p:cNvPr id="6" name="card-155"/>
          <p:cNvSpPr/>
          <p:nvPr/>
        </p:nvSpPr>
        <p:spPr>
          <a:xfrm>
            <a:off x="617220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156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 improvements</a:t>
            </a:r>
            <a:endParaRPr lang="en-US" sz="1800" dirty="0"/>
          </a:p>
        </p:txBody>
      </p:sp>
      <p:sp>
        <p:nvSpPr>
          <p:cNvPr id="8" name="list-157"/>
          <p:cNvSpPr txBox="1"/>
          <p:nvPr/>
        </p:nvSpPr>
        <p:spPr>
          <a:xfrm>
            <a:off x="6400800" y="196596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Load verified nutrients from IFCT / USDA FoodData Central by food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Day-level planning: optimise all remaining meals against several goals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Log consumption of pantry stock to close the purchase-vs-eaten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authentication and per-user goals before sharing beyond localhost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Code-split the Plotly bundle for faster first 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Spend Forest">
  <a:themeElements>
    <a:clrScheme name="FoodSpend Forest">
      <a:dk1>
        <a:srgbClr val="1B2B22"/>
      </a:dk1>
      <a:lt1>
        <a:srgbClr val="FFFFFF"/>
      </a:lt1>
      <a:dk2>
        <a:srgbClr val="1F4D3A"/>
      </a:dk2>
      <a:lt2>
        <a:srgbClr val="EEF3EE"/>
      </a:lt2>
      <a:accent1>
        <a:srgbClr val="2E7D5B"/>
      </a:accent1>
      <a:accent2>
        <a:srgbClr val="E07A3F"/>
      </a:accent2>
      <a:accent3>
        <a:srgbClr val="3E6FB0"/>
      </a:accent3>
      <a:accent4>
        <a:srgbClr val="C9A227"/>
      </a:accent4>
      <a:accent5>
        <a:srgbClr val="8E5A9B"/>
      </a:accent5>
      <a:accent6>
        <a:srgbClr val="7E8A83"/>
      </a:accent6>
      <a:hlink>
        <a:srgbClr val="3E6FB0"/>
      </a:hlink>
      <a:folHlink>
        <a:srgbClr val="8E5A9B"/>
      </a:folHlink>
    </a:clrScheme>
    <a:fontScheme name="FoodSpend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FoodSpend Insights: Personalized Nutrition Analytics</dc:title>
  <dc:subject>PptxGenJS Presentation</dc:subject>
  <dc:creator>FoodSpend Insights team</dc:creator>
  <cp:lastModifiedBy>FoodSpend Insights team</cp:lastModifiedBy>
  <cp:revision>1</cp:revision>
  <dcterms:created xsi:type="dcterms:W3CDTF">2026-10-27T18:16:19Z</dcterms:created>
  <dcterms:modified xsi:type="dcterms:W3CDTF">2026-10-27T18:16:19Z</dcterms:modified>
</cp:coreProperties>
</file>